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9375F"/>
            </a:gs>
            <a:gs pos="100000">
              <a:srgbClr val="2D5587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F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FFFFFF">
              <a:lumMod val="8000"/>
              <a:lumOff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4800" b="1">
                <a:solidFill>
                  <a:srgbClr val="FFFFFF"/>
                </a:solidFill>
              </a:defRPr>
            </a:pPr>
            <a:r>
              <a:t>📊 إحصائيات نتائج التلاميذ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2400">
                <a:solidFill>
                  <a:srgbClr val="C8DCF0"/>
                </a:solidFill>
              </a:defRPr>
            </a:pPr>
            <a:r>
              <a:t>الفصول: 6 فصول | عدد التلاميذ: 216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5029200"/>
            <a:ext cx="4876495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9FA"/>
            </a:gs>
            <a:gs pos="100000">
              <a:srgbClr val="E9ECE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917375" y="0"/>
            <a:ext cx="27432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1277295" cy="82296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3600" b="1">
                <a:solidFill>
                  <a:srgbClr val="FFFFFF"/>
                </a:solidFill>
              </a:defRPr>
            </a:pPr>
            <a:r>
              <a:t>📋 فهرس المحتويات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17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800">
                <a:solidFill>
                  <a:srgbClr val="2C3E50"/>
                </a:solidFill>
              </a:defRPr>
            </a:pPr>
            <a:r>
              <a:t>📈 الإحصائيات العامة</a:t>
            </a:r>
          </a:p>
        </p:txBody>
      </p:sp>
      <p:sp>
        <p:nvSpPr>
          <p:cNvPr id="6" name="Oval 5"/>
          <p:cNvSpPr/>
          <p:nvPr/>
        </p:nvSpPr>
        <p:spPr>
          <a:xfrm>
            <a:off x="11064240" y="1371600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14173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800">
                <a:solidFill>
                  <a:srgbClr val="2C3E50"/>
                </a:solidFill>
              </a:defRPr>
            </a:pPr>
            <a:r>
              <a:t>🏆 أفضل وأضعف التلاميذ</a:t>
            </a:r>
          </a:p>
        </p:txBody>
      </p:sp>
      <p:sp>
        <p:nvSpPr>
          <p:cNvPr id="9" name="Oval 8"/>
          <p:cNvSpPr/>
          <p:nvPr/>
        </p:nvSpPr>
        <p:spPr>
          <a:xfrm>
            <a:off x="11064240" y="1783080"/>
            <a:ext cx="365760" cy="3657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0" y="182880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7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800">
                <a:solidFill>
                  <a:srgbClr val="2C3E50"/>
                </a:solidFill>
              </a:defRPr>
            </a:pPr>
            <a:r>
              <a:t>📊 توزيع شرائح المعدلات</a:t>
            </a:r>
          </a:p>
        </p:txBody>
      </p:sp>
      <p:sp>
        <p:nvSpPr>
          <p:cNvPr id="12" name="Oval 11"/>
          <p:cNvSpPr/>
          <p:nvPr/>
        </p:nvSpPr>
        <p:spPr>
          <a:xfrm>
            <a:off x="11064240" y="2194560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240279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800">
                <a:solidFill>
                  <a:srgbClr val="2C3E50"/>
                </a:solidFill>
              </a:defRPr>
            </a:pPr>
            <a:r>
              <a:t>📈 توزيع المعدلات</a:t>
            </a:r>
          </a:p>
        </p:txBody>
      </p:sp>
      <p:sp>
        <p:nvSpPr>
          <p:cNvPr id="15" name="Oval 14"/>
          <p:cNvSpPr/>
          <p:nvPr/>
        </p:nvSpPr>
        <p:spPr>
          <a:xfrm>
            <a:off x="11064240" y="2606040"/>
            <a:ext cx="365760" cy="3657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64240" y="26517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6323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800">
                <a:solidFill>
                  <a:srgbClr val="2C3E50"/>
                </a:solidFill>
              </a:defRPr>
            </a:pPr>
            <a:r>
              <a:t>📚 متوسط المعدلات حسب المادة</a:t>
            </a:r>
          </a:p>
        </p:txBody>
      </p:sp>
      <p:sp>
        <p:nvSpPr>
          <p:cNvPr id="18" name="Oval 17"/>
          <p:cNvSpPr/>
          <p:nvPr/>
        </p:nvSpPr>
        <p:spPr>
          <a:xfrm>
            <a:off x="11064240" y="3017520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64240" y="3063239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74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800">
                <a:solidFill>
                  <a:srgbClr val="2C3E50"/>
                </a:solidFill>
              </a:defRPr>
            </a:pPr>
            <a:r>
              <a:t>🔬 مقارنة العلوم والآداب</a:t>
            </a:r>
          </a:p>
        </p:txBody>
      </p:sp>
      <p:sp>
        <p:nvSpPr>
          <p:cNvPr id="21" name="Oval 20"/>
          <p:cNvSpPr/>
          <p:nvPr/>
        </p:nvSpPr>
        <p:spPr>
          <a:xfrm>
            <a:off x="11064240" y="3429000"/>
            <a:ext cx="365760" cy="3657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64240" y="34747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1417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800">
                <a:solidFill>
                  <a:srgbClr val="2C3E50"/>
                </a:solidFill>
              </a:defRPr>
            </a:pPr>
            <a:r>
              <a:t>🎨 مواد التفتح</a:t>
            </a:r>
          </a:p>
        </p:txBody>
      </p:sp>
      <p:sp>
        <p:nvSpPr>
          <p:cNvPr id="24" name="Oval 23"/>
          <p:cNvSpPr/>
          <p:nvPr/>
        </p:nvSpPr>
        <p:spPr>
          <a:xfrm>
            <a:off x="5394959" y="1371600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59" y="14173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1828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800">
                <a:solidFill>
                  <a:srgbClr val="2C3E50"/>
                </a:solidFill>
              </a:defRPr>
            </a:pPr>
            <a:r>
              <a:t>🌐 الكفاءة اللغوية</a:t>
            </a:r>
          </a:p>
        </p:txBody>
      </p:sp>
      <p:sp>
        <p:nvSpPr>
          <p:cNvPr id="27" name="Oval 26"/>
          <p:cNvSpPr/>
          <p:nvPr/>
        </p:nvSpPr>
        <p:spPr>
          <a:xfrm>
            <a:off x="5394959" y="1783080"/>
            <a:ext cx="365760" cy="3657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59" y="182880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224027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800">
                <a:solidFill>
                  <a:srgbClr val="2C3E50"/>
                </a:solidFill>
              </a:defRPr>
            </a:pPr>
            <a:r>
              <a:t>🔗 تحليل الارتباط</a:t>
            </a:r>
          </a:p>
        </p:txBody>
      </p:sp>
      <p:sp>
        <p:nvSpPr>
          <p:cNvPr id="30" name="Oval 29"/>
          <p:cNvSpPr/>
          <p:nvPr/>
        </p:nvSpPr>
        <p:spPr>
          <a:xfrm>
            <a:off x="5394959" y="2194560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59" y="2240279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2651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800">
                <a:solidFill>
                  <a:srgbClr val="2C3E50"/>
                </a:solidFill>
              </a:defRPr>
            </a:pPr>
            <a:r>
              <a:t>🚨 التلاميذ المعرضين للخطر</a:t>
            </a:r>
          </a:p>
        </p:txBody>
      </p:sp>
      <p:sp>
        <p:nvSpPr>
          <p:cNvPr id="33" name="Oval 32"/>
          <p:cNvSpPr/>
          <p:nvPr/>
        </p:nvSpPr>
        <p:spPr>
          <a:xfrm>
            <a:off x="5394959" y="2606040"/>
            <a:ext cx="365760" cy="3657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59" y="26517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306323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800">
                <a:solidFill>
                  <a:srgbClr val="2C3E50"/>
                </a:solidFill>
              </a:defRPr>
            </a:pPr>
            <a:r>
              <a:t>💡 التوصيات</a:t>
            </a:r>
          </a:p>
        </p:txBody>
      </p:sp>
      <p:sp>
        <p:nvSpPr>
          <p:cNvPr id="36" name="Oval 35"/>
          <p:cNvSpPr/>
          <p:nvPr/>
        </p:nvSpPr>
        <p:spPr>
          <a:xfrm>
            <a:off x="5394959" y="3017520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59" y="3063239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0" y="6217920"/>
            <a:ext cx="8534095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9FA"/>
            </a:gs>
            <a:gs pos="100000">
              <a:srgbClr val="E9ECE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3200" b="1">
                <a:solidFill>
                  <a:srgbClr val="FFFFFF"/>
                </a:solidFill>
              </a:defRPr>
            </a:pPr>
            <a:r>
              <a:t>📈 الإحصائيات العامة</a:t>
            </a:r>
          </a:p>
        </p:txBody>
      </p:sp>
      <p:sp>
        <p:nvSpPr>
          <p:cNvPr id="5" name="Right Triangle 4"/>
          <p:cNvSpPr/>
          <p:nvPr/>
        </p:nvSpPr>
        <p:spPr>
          <a:xfrm rot="16200000">
            <a:off x="0" y="5486400"/>
            <a:ext cx="1218895" cy="13716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0" y="6263640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327648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188720"/>
            <a:ext cx="2560320" cy="146304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0" y="132588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737360"/>
            <a:ext cx="23774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240280"/>
            <a:ext cx="23774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400">
                <a:solidFill>
                  <a:srgbClr val="F0F0F0"/>
                </a:solidFill>
              </a:defRPr>
            </a:pPr>
            <a:r>
              <a:t>عدد التلاميذ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2560320" cy="1463040"/>
          </a:xfrm>
          <a:prstGeom prst="round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32588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737360"/>
            <a:ext cx="23774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13.71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240280"/>
            <a:ext cx="23774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400">
                <a:solidFill>
                  <a:srgbClr val="F0F0F0"/>
                </a:solidFill>
              </a:defRPr>
            </a:pPr>
            <a:r>
              <a:t>المعدل العام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1188720"/>
            <a:ext cx="2560320" cy="14630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132588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1737360"/>
            <a:ext cx="23774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94.9%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240280"/>
            <a:ext cx="23774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400">
                <a:solidFill>
                  <a:srgbClr val="F0F0F0"/>
                </a:solidFill>
              </a:defRPr>
            </a:pPr>
            <a:r>
              <a:t>نسبة النجاح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1188720"/>
            <a:ext cx="2560320" cy="14630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132588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1737360"/>
            <a:ext cx="23774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240280"/>
            <a:ext cx="23774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400">
                <a:solidFill>
                  <a:srgbClr val="F0F0F0"/>
                </a:solidFill>
              </a:defRPr>
            </a:pPr>
            <a:r>
              <a:t>عدد الفصول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2834640"/>
            <a:ext cx="2560320" cy="146304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297180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383280"/>
            <a:ext cx="23774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19.84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886200"/>
            <a:ext cx="23774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400">
                <a:solidFill>
                  <a:srgbClr val="F0F0F0"/>
                </a:solidFill>
              </a:defRPr>
            </a:pPr>
            <a:r>
              <a:t>أعلى معدل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834640"/>
            <a:ext cx="2560320" cy="146304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59" y="297180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3383280"/>
            <a:ext cx="23774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2.06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3886200"/>
            <a:ext cx="23774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400">
                <a:solidFill>
                  <a:srgbClr val="F0F0F0"/>
                </a:solidFill>
              </a:defRPr>
            </a:pPr>
            <a:r>
              <a:t>أدنى معدل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2834640"/>
            <a:ext cx="2560320" cy="1463040"/>
          </a:xfrm>
          <a:prstGeom prst="round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297180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3383280"/>
            <a:ext cx="23774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2.78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3886200"/>
            <a:ext cx="23774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400">
                <a:solidFill>
                  <a:srgbClr val="F0F0F0"/>
                </a:solidFill>
              </a:defRPr>
            </a:pPr>
            <a:r>
              <a:t>الانحراف المعياري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2834640"/>
            <a:ext cx="2560320" cy="1463040"/>
          </a:xfrm>
          <a:prstGeom prst="roundRect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297180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3383280"/>
            <a:ext cx="23774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39.4%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3886200"/>
            <a:ext cx="23774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400">
                <a:solidFill>
                  <a:srgbClr val="F0F0F0"/>
                </a:solidFill>
              </a:defRPr>
            </a:pPr>
            <a:r>
              <a:t>نسبة التميز (≥14)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48056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>
              <a:defRPr sz="2200" b="1">
                <a:solidFill>
                  <a:srgbClr val="27AE60"/>
                </a:solidFill>
              </a:defRPr>
            </a:pPr>
            <a:r>
              <a:t>🌟 أداء ممتاز - نسبة نجاح عالية</a:t>
            </a:r>
          </a:p>
          <a:p>
            <a:pPr algn="ctr" a:rtl="1">
              <a:spcBef>
                <a:spcPts val="800"/>
              </a:spcBef>
              <a:defRPr sz="1400">
                <a:solidFill>
                  <a:srgbClr val="646464"/>
                </a:solidFill>
              </a:defRPr>
            </a:pPr>
            <a:r>
              <a:t>📌 نسبة النجاح: معدل ≥ 10 | نسبة التميز: معدل ≥ 14 (جيد جداً/ممتاز)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9FA"/>
            </a:gs>
            <a:gs pos="100000">
              <a:srgbClr val="E9ECE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3200" b="1">
                <a:solidFill>
                  <a:srgbClr val="FFFFFF"/>
                </a:solidFill>
              </a:defRPr>
            </a:pPr>
            <a:r>
              <a:t>📊 توزيع شرائح المعدلات</a:t>
            </a:r>
          </a:p>
        </p:txBody>
      </p:sp>
      <p:sp>
        <p:nvSpPr>
          <p:cNvPr id="5" name="Right Triangle 4"/>
          <p:cNvSpPr/>
          <p:nvPr/>
        </p:nvSpPr>
        <p:spPr>
          <a:xfrm rot="16200000">
            <a:off x="0" y="5486400"/>
            <a:ext cx="1218895" cy="13716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0" y="6263640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327648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188720"/>
            <a:ext cx="2926080" cy="1280160"/>
          </a:xfrm>
          <a:prstGeom prst="roundRect">
            <a:avLst/>
          </a:prstGeom>
          <a:solidFill>
            <a:srgbClr val="FF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12801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</a:defRPr>
            </a:pPr>
            <a:r>
              <a:t>🔴 دون المعدل (0-9.99)</a:t>
            </a:r>
          </a:p>
          <a:p>
            <a:pPr algn="ctr">
              <a:defRPr sz="2400" b="1">
                <a:solidFill>
                  <a:srgbClr val="323232"/>
                </a:solidFill>
              </a:defRPr>
            </a:pPr>
            <a:r>
              <a:t>11 تلميذ</a:t>
            </a:r>
          </a:p>
          <a:p>
            <a:pPr algn="ctr">
              <a:defRPr sz="1800">
                <a:solidFill>
                  <a:srgbClr val="E74C3C"/>
                </a:solidFill>
              </a:defRPr>
            </a:pPr>
            <a:r>
              <a:t>5.1%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606040"/>
            <a:ext cx="2926080" cy="1280160"/>
          </a:xfrm>
          <a:prstGeom prst="roundRect">
            <a:avLst/>
          </a:prstGeom>
          <a:solidFill>
            <a:srgbClr val="FFFAE6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26974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C40F"/>
                </a:solidFill>
              </a:defRPr>
            </a:pPr>
            <a:r>
              <a:t>🟡 متوسط (10-11.99)</a:t>
            </a:r>
          </a:p>
          <a:p>
            <a:pPr algn="ctr">
              <a:defRPr sz="2400" b="1">
                <a:solidFill>
                  <a:srgbClr val="323232"/>
                </a:solidFill>
              </a:defRPr>
            </a:pPr>
            <a:r>
              <a:t>54 تلميذ</a:t>
            </a:r>
          </a:p>
          <a:p>
            <a:pPr algn="ctr">
              <a:defRPr sz="1800">
                <a:solidFill>
                  <a:srgbClr val="F1C40F"/>
                </a:solidFill>
              </a:defRPr>
            </a:pPr>
            <a:r>
              <a:t>25.0%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4023360"/>
            <a:ext cx="2926080" cy="1280160"/>
          </a:xfrm>
          <a:prstGeom prst="roundRect">
            <a:avLst/>
          </a:prstGeom>
          <a:solidFill>
            <a:srgbClr val="E6FFF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4114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</a:defRPr>
            </a:pPr>
            <a:r>
              <a:t>🟢 جيد/ممتاز (12-20)</a:t>
            </a:r>
          </a:p>
          <a:p>
            <a:pPr algn="ctr">
              <a:defRPr sz="2400" b="1">
                <a:solidFill>
                  <a:srgbClr val="323232"/>
                </a:solidFill>
              </a:defRPr>
            </a:pPr>
            <a:r>
              <a:t>151 تلميذ</a:t>
            </a:r>
          </a:p>
          <a:p>
            <a:pPr algn="ctr">
              <a:defRPr sz="1800">
                <a:solidFill>
                  <a:srgbClr val="27AE60"/>
                </a:solidFill>
              </a:defRPr>
            </a:pPr>
            <a:r>
              <a:t>69.9%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5440680"/>
            <a:ext cx="2926080" cy="50292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548640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✅ نسبة النجاح: 94.9%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6858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9FA"/>
            </a:gs>
            <a:gs pos="100000">
              <a:srgbClr val="E9ECE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3200" b="1">
                <a:solidFill>
                  <a:srgbClr val="FFFFFF"/>
                </a:solidFill>
              </a:defRPr>
            </a:pPr>
            <a:r>
              <a:t>📈 توزيع المعدلات</a:t>
            </a:r>
          </a:p>
        </p:txBody>
      </p:sp>
      <p:sp>
        <p:nvSpPr>
          <p:cNvPr id="5" name="Right Triangle 4"/>
          <p:cNvSpPr/>
          <p:nvPr/>
        </p:nvSpPr>
        <p:spPr>
          <a:xfrm rot="16200000">
            <a:off x="0" y="5486400"/>
            <a:ext cx="1218895" cy="13716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0" y="6263640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327648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303520" cy="294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0" y="100584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200" b="1">
                <a:solidFill>
                  <a:srgbClr val="0070C0"/>
                </a:solidFill>
              </a:defRPr>
            </a:pPr>
            <a:r>
              <a:t>📊 رؤى إحصائية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463040"/>
            <a:ext cx="2697480" cy="59436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1508760"/>
            <a:ext cx="2606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6464"/>
                </a:solidFill>
              </a:defRPr>
            </a:pPr>
            <a:r>
              <a:t>📍 المتوسط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1755648"/>
            <a:ext cx="2606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DC2626"/>
                </a:solidFill>
              </a:defRPr>
            </a:pPr>
            <a:r>
              <a:t>13.71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463040"/>
            <a:ext cx="2697480" cy="59436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508760"/>
            <a:ext cx="2606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6464"/>
                </a:solidFill>
              </a:defRPr>
            </a:pPr>
            <a:r>
              <a:t>📌 الوسيط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755648"/>
            <a:ext cx="2606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6A34A"/>
                </a:solidFill>
              </a:defRPr>
            </a:pPr>
            <a:r>
              <a:t>13.54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2148840"/>
            <a:ext cx="2697480" cy="59436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0" y="2194560"/>
            <a:ext cx="2606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6464"/>
                </a:solidFill>
              </a:defRPr>
            </a:pPr>
            <a:r>
              <a:t>📏 الانحراف المعياري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2441448"/>
            <a:ext cx="2606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2.78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2148840"/>
            <a:ext cx="2697480" cy="594360"/>
          </a:xfrm>
          <a:prstGeom prst="roundRect">
            <a:avLst/>
          </a:prstGeom>
          <a:solidFill>
            <a:srgbClr val="F3E8FF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2194560"/>
            <a:ext cx="2606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6464"/>
                </a:solidFill>
              </a:defRPr>
            </a:pPr>
            <a:r>
              <a:t>📐 المدى الربيعي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441448"/>
            <a:ext cx="2606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9333EA"/>
                </a:solidFill>
              </a:defRPr>
            </a:pPr>
            <a:r>
              <a:t>3.72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2834640"/>
            <a:ext cx="5577840" cy="64008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292608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6A34A"/>
                </a:solidFill>
              </a:defRPr>
            </a:pPr>
            <a:r>
              <a:t>🏆 نسبة النجاح: 94.9%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566160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70C0"/>
                </a:solidFill>
              </a:defRPr>
            </a:pPr>
            <a:r>
              <a:t>📈 توزيع الأرباع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3931920"/>
            <a:ext cx="1783080" cy="6858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4005072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الربع الأول (25%)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4279392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11.66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3931920"/>
            <a:ext cx="1783080" cy="6858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4005072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الوسيط (50%)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4279392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AB308"/>
                </a:solidFill>
              </a:defRPr>
            </a:pPr>
            <a:r>
              <a:t>13.54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18320" y="3931920"/>
            <a:ext cx="1783080" cy="6858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64040" y="4005072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الربع الثالث (75%)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4279392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15.38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2880" y="4663440"/>
            <a:ext cx="5303520" cy="1005840"/>
          </a:xfrm>
          <a:prstGeom prst="roundRect">
            <a:avLst/>
          </a:prstGeom>
          <a:solidFill>
            <a:srgbClr val="FFFBEB"/>
          </a:solidFill>
          <a:ln w="317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47091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400" b="1">
                <a:solidFill>
                  <a:srgbClr val="3498DB"/>
                </a:solidFill>
              </a:defRPr>
            </a:pPr>
            <a:r>
              <a:t>💡 تحليل شكل التوزيع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50292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defRPr sz="1300">
                <a:solidFill>
                  <a:srgbClr val="3C3C3C"/>
                </a:solidFill>
              </a:defRPr>
            </a:pPr>
            <a:r>
              <a:t>📊 التوزيع متماثل تقريباً (طبيعي)</a:t>
            </a:r>
          </a:p>
          <a:p>
            <a:pPr algn="r" a:rtl="1">
              <a:defRPr sz="1100">
                <a:solidFill>
                  <a:srgbClr val="646464"/>
                </a:solidFill>
              </a:defRPr>
            </a:pPr>
            <a:r>
              <a:t>معامل الالتواء: 0.125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9FA"/>
            </a:gs>
            <a:gs pos="100000">
              <a:srgbClr val="E9ECE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3200" b="1">
                <a:solidFill>
                  <a:srgbClr val="FFFFFF"/>
                </a:solidFill>
              </a:defRPr>
            </a:pPr>
            <a:r>
              <a:t>📚 متوسط المعدلات حسب المادة</a:t>
            </a:r>
          </a:p>
        </p:txBody>
      </p:sp>
      <p:sp>
        <p:nvSpPr>
          <p:cNvPr id="5" name="Right Triangle 4"/>
          <p:cNvSpPr/>
          <p:nvPr/>
        </p:nvSpPr>
        <p:spPr>
          <a:xfrm rot="16200000">
            <a:off x="0" y="5486400"/>
            <a:ext cx="1218895" cy="13716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0" y="6263640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327648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658368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10515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800" b="1">
                <a:solidFill>
                  <a:srgbClr val="0070C0"/>
                </a:solidFill>
              </a:defRPr>
            </a:pPr>
            <a:r>
              <a:t>📊 رؤى تحليلية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463040"/>
            <a:ext cx="4846320" cy="77724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53619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100" b="1">
                <a:solidFill>
                  <a:srgbClr val="16A34A"/>
                </a:solidFill>
              </a:defRPr>
            </a:pPr>
            <a:r>
              <a:t>🏆 أفضل مادة (أعلى متوسط)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85623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300">
                <a:solidFill>
                  <a:srgbClr val="374151"/>
                </a:solidFill>
              </a:defRPr>
            </a:pPr>
            <a:r>
              <a:t>المعلوميات: 17.34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331720"/>
            <a:ext cx="4846320" cy="77724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240487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100" b="1">
                <a:solidFill>
                  <a:srgbClr val="DC2626"/>
                </a:solidFill>
              </a:defRPr>
            </a:pPr>
            <a:r>
              <a:t>⚠️ أضعف مادة (أدنى متوسط)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72491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300">
                <a:solidFill>
                  <a:srgbClr val="374151"/>
                </a:solidFill>
              </a:defRPr>
            </a:pPr>
            <a:r>
              <a:t>الفيزياء والكيمياء: 11.17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3200400"/>
            <a:ext cx="4846320" cy="77724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327355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100" b="1">
                <a:solidFill>
                  <a:srgbClr val="2563EB"/>
                </a:solidFill>
              </a:defRPr>
            </a:pPr>
            <a:r>
              <a:t>✅ أعلى نسبة نجاح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59359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300">
                <a:solidFill>
                  <a:srgbClr val="374151"/>
                </a:solidFill>
              </a:defRPr>
            </a:pPr>
            <a:r>
              <a:t>المعلوميات: 99.1%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4069080"/>
            <a:ext cx="4846320" cy="777240"/>
          </a:xfrm>
          <a:prstGeom prst="roundRect">
            <a:avLst/>
          </a:prstGeom>
          <a:solidFill>
            <a:srgbClr val="FEF9C3"/>
          </a:solidFill>
          <a:ln w="2540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414223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100" b="1">
                <a:solidFill>
                  <a:srgbClr val="CA8A04"/>
                </a:solidFill>
              </a:defRPr>
            </a:pPr>
            <a:r>
              <a:t>📉 أدنى نسبة نجاح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46227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300">
                <a:solidFill>
                  <a:srgbClr val="374151"/>
                </a:solidFill>
              </a:defRPr>
            </a:pPr>
            <a:r>
              <a:t>الفيزياء والكيمياء: 55.6%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5029200"/>
            <a:ext cx="4846320" cy="64008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51206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📈 المتوسط العام لجميع المواد: 13.72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9FA"/>
            </a:gs>
            <a:gs pos="100000">
              <a:srgbClr val="E9ECE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3200" b="1">
                <a:solidFill>
                  <a:srgbClr val="FFFFFF"/>
                </a:solidFill>
              </a:defRPr>
            </a:pPr>
            <a:r>
              <a:t>📊 توزيع المعدلات حسب المادة (مخطط صندوقي)</a:t>
            </a:r>
          </a:p>
        </p:txBody>
      </p:sp>
      <p:sp>
        <p:nvSpPr>
          <p:cNvPr id="5" name="Right Triangle 4"/>
          <p:cNvSpPr/>
          <p:nvPr/>
        </p:nvSpPr>
        <p:spPr>
          <a:xfrm rot="16200000">
            <a:off x="0" y="5486400"/>
            <a:ext cx="1218895" cy="13716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0" y="6263640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327648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498079" cy="41655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6384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800" b="1">
                <a:solidFill>
                  <a:srgbClr val="0070C0"/>
                </a:solidFill>
              </a:defRPr>
            </a:pPr>
            <a:r>
              <a:t>💡 رؤى تحليلية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417320"/>
            <a:ext cx="3931920" cy="77724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50876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200" b="1">
                <a:solidFill>
                  <a:srgbClr val="16A34A"/>
                </a:solidFill>
              </a:defRPr>
            </a:pPr>
            <a:r>
              <a:t>🏆 أفضل مادة (أعلى وسيط)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82880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300">
                <a:solidFill>
                  <a:srgbClr val="374151"/>
                </a:solidFill>
              </a:defRPr>
            </a:pPr>
            <a:r>
              <a:t>التربية البدنية: 17.75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286000"/>
            <a:ext cx="3931920" cy="77724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237744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200" b="1">
                <a:solidFill>
                  <a:srgbClr val="DC2626"/>
                </a:solidFill>
              </a:defRPr>
            </a:pPr>
            <a:r>
              <a:t>⚠️ أضعف مادة (أدنى وسيط)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69748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300">
                <a:solidFill>
                  <a:srgbClr val="374151"/>
                </a:solidFill>
              </a:defRPr>
            </a:pPr>
            <a:r>
              <a:t>الفيزياء والكيمياء: 10.57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3154680"/>
            <a:ext cx="3931920" cy="777240"/>
          </a:xfrm>
          <a:prstGeom prst="roundRect">
            <a:avLst/>
          </a:prstGeom>
          <a:solidFill>
            <a:srgbClr val="FEF9C3"/>
          </a:solidFill>
          <a:ln w="2540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324612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200" b="1">
                <a:solidFill>
                  <a:srgbClr val="CA8A04"/>
                </a:solidFill>
              </a:defRPr>
            </a:pPr>
            <a:r>
              <a:t>📊 أكثر تفاوتاً (أعلى انحراف)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56616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300">
                <a:solidFill>
                  <a:srgbClr val="374151"/>
                </a:solidFill>
              </a:defRPr>
            </a:pPr>
            <a:r>
              <a:t>الفيزياء والكيمياء: σ = 4.05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4023360"/>
            <a:ext cx="3931920" cy="77724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411480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200" b="1">
                <a:solidFill>
                  <a:srgbClr val="2563EB"/>
                </a:solidFill>
              </a:defRPr>
            </a:pPr>
            <a:r>
              <a:t>✅ أكثر اتساقاً (أدنى انحراف)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43484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300">
                <a:solidFill>
                  <a:srgbClr val="374151"/>
                </a:solidFill>
              </a:defRPr>
            </a:pPr>
            <a:r>
              <a:t>المعلوميات: σ = 1.75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4937760"/>
            <a:ext cx="11704320" cy="86868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98348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300" b="1">
                <a:solidFill>
                  <a:srgbClr val="1E40AF"/>
                </a:solidFill>
              </a:defRPr>
            </a:pPr>
            <a:r>
              <a:t>📖 كيفية قراءة هذا الرسم البياني: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03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74151"/>
                </a:solidFill>
              </a:defRPr>
            </a:pPr>
            <a:r>
              <a:t>الخط في المنتصف = الوسيط  |  الصندوق = 50% من البيانات  |  الخطوط الممتدة = المدى  |  النقاط = القيم الشاذة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9FA"/>
            </a:gs>
            <a:gs pos="100000">
              <a:srgbClr val="E9ECE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3200" b="1">
                <a:solidFill>
                  <a:srgbClr val="FFFFFF"/>
                </a:solidFill>
              </a:defRPr>
            </a:pPr>
            <a:r>
              <a:t>🏆 أفضل 10 تلاميذ</a:t>
            </a:r>
          </a:p>
        </p:txBody>
      </p:sp>
      <p:sp>
        <p:nvSpPr>
          <p:cNvPr id="5" name="Right Triangle 4"/>
          <p:cNvSpPr/>
          <p:nvPr/>
        </p:nvSpPr>
        <p:spPr>
          <a:xfrm rot="16200000">
            <a:off x="0" y="5486400"/>
            <a:ext cx="1218895" cy="13716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0" y="6263640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327648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28800" y="11887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1563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الترتيب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اسم التلميذ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المعدل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الياس سارة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19.84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ايت محند اعلي كنزة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19.79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بوعلي هبة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19.69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نايت ظهر حياة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19.67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الباز ملاك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19.49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موفدي كوثر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19.46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الحيان سعاد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19.42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يسني فاطمة الزهراء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19.26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اولحبيب هاجر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19.15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المقراوي الهام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19.03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9FA"/>
            </a:gs>
            <a:gs pos="100000">
              <a:srgbClr val="E9ECE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3200" b="1">
                <a:solidFill>
                  <a:srgbClr val="FFFFFF"/>
                </a:solidFill>
              </a:defRPr>
            </a:pPr>
            <a:r>
              <a:t>💡 أهم الملاحظات</a:t>
            </a:r>
          </a:p>
        </p:txBody>
      </p:sp>
      <p:sp>
        <p:nvSpPr>
          <p:cNvPr id="5" name="Right Triangle 4"/>
          <p:cNvSpPr/>
          <p:nvPr/>
        </p:nvSpPr>
        <p:spPr>
          <a:xfrm rot="16200000">
            <a:off x="0" y="5486400"/>
            <a:ext cx="1218895" cy="13716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0" y="6263640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327648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 a:rtl="1">
              <a:spcAft>
                <a:spcPts val="1200"/>
              </a:spcAft>
              <a:defRPr sz="2400"/>
            </a:pPr>
            <a:r>
              <a:t>✅ أفضل مادة أداءً: المعلوميات (المتوسط: 17.34)</a:t>
            </a:r>
          </a:p>
          <a:p>
            <a:pPr algn="r" a:rtl="1">
              <a:spcAft>
                <a:spcPts val="1200"/>
              </a:spcAft>
              <a:defRPr sz="2400"/>
            </a:pPr>
          </a:p>
          <a:p>
            <a:pPr algn="r" a:rtl="1">
              <a:spcAft>
                <a:spcPts val="1200"/>
              </a:spcAft>
              <a:defRPr sz="2400"/>
            </a:pPr>
            <a:r>
              <a:t>⚠️ مادة تحتاج اهتماماً: الفيزياء والكيمياء (المتوسط: 11.17)</a:t>
            </a:r>
          </a:p>
          <a:p>
            <a:pPr algn="r" a:rtl="1">
              <a:spcAft>
                <a:spcPts val="1200"/>
              </a:spcAft>
              <a:defRPr sz="2400"/>
            </a:pPr>
          </a:p>
          <a:p>
            <a:pPr algn="r" a:rtl="1">
              <a:spcAft>
                <a:spcPts val="1200"/>
              </a:spcAft>
              <a:defRPr sz="2400"/>
            </a:pPr>
            <a:r>
              <a:t>📊 المادة الأكثر استقراراً: المعلوميات (الانحراف المعياري: 1.75)</a:t>
            </a:r>
          </a:p>
          <a:p>
            <a:pPr algn="r" a:rtl="1">
              <a:spcAft>
                <a:spcPts val="1200"/>
              </a:spcAft>
              <a:defRPr sz="2400"/>
            </a:pPr>
          </a:p>
          <a:p>
            <a:pPr algn="r" a:rtl="1">
              <a:spcAft>
                <a:spcPts val="1200"/>
              </a:spcAft>
              <a:defRPr sz="2400"/>
            </a:pPr>
            <a:r>
              <a:t>📈 المادة الأكثر تبايناً: الفيزياء والكيمياء (الانحراف المعياري: 4.05)</a:t>
            </a:r>
          </a:p>
          <a:p>
            <a:pPr algn="r" a:rtl="1">
              <a:spcAft>
                <a:spcPts val="1200"/>
              </a:spcAft>
              <a:defRPr sz="2400"/>
            </a:pPr>
          </a:p>
          <a:p>
            <a:pPr algn="r" a:rtl="1">
              <a:spcAft>
                <a:spcPts val="1200"/>
              </a:spcAft>
              <a:defRPr sz="2400"/>
            </a:pPr>
            <a:r>
              <a:t>🎯 نسبة النجاح الإجمالية: 94.9%</a:t>
            </a:r>
          </a:p>
          <a:p>
            <a:pPr algn="r" a:rtl="1">
              <a:spcAft>
                <a:spcPts val="1200"/>
              </a:spcAft>
              <a:defRPr sz="2400"/>
            </a:pPr>
          </a:p>
          <a:p>
            <a:pPr algn="r" a:rtl="1">
              <a:spcAft>
                <a:spcPts val="1200"/>
              </a:spcAft>
              <a:defRPr sz="2400"/>
            </a:pPr>
            <a:r>
              <a:t>🌟 نسبة التميز (≥12): 69.9%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9FA"/>
            </a:gs>
            <a:gs pos="100000">
              <a:srgbClr val="E9ECE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3200" b="1">
                <a:solidFill>
                  <a:srgbClr val="FFFFFF"/>
                </a:solidFill>
              </a:defRPr>
            </a:pPr>
            <a:r>
              <a:t>🏆 أفضل وأضعف التلاميذ</a:t>
            </a:r>
          </a:p>
        </p:txBody>
      </p:sp>
      <p:sp>
        <p:nvSpPr>
          <p:cNvPr id="5" name="Right Triangle 4"/>
          <p:cNvSpPr/>
          <p:nvPr/>
        </p:nvSpPr>
        <p:spPr>
          <a:xfrm rot="16200000">
            <a:off x="0" y="5486400"/>
            <a:ext cx="1218895" cy="13716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0" y="6263640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327648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188720"/>
            <a:ext cx="5760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 a:rtl="1">
              <a:spcAft>
                <a:spcPts val="600"/>
              </a:spcAft>
              <a:defRPr sz="2000"/>
            </a:pPr>
            <a:r>
              <a:t>🥇 أفضل 5 تلاميذ:</a:t>
            </a:r>
          </a:p>
          <a:p>
            <a:pPr algn="r" a:rtl="1">
              <a:spcAft>
                <a:spcPts val="600"/>
              </a:spcAft>
              <a:defRPr sz="2000"/>
            </a:pPr>
            <a:r>
              <a:t>🥇 الياس سارة: 19.84</a:t>
            </a:r>
          </a:p>
          <a:p>
            <a:pPr algn="r" a:rtl="1">
              <a:spcAft>
                <a:spcPts val="600"/>
              </a:spcAft>
              <a:defRPr sz="2000"/>
            </a:pPr>
            <a:r>
              <a:t>🥈 ايت محند اعلي كنزة: 19.79</a:t>
            </a:r>
          </a:p>
          <a:p>
            <a:pPr algn="r" a:rtl="1">
              <a:spcAft>
                <a:spcPts val="600"/>
              </a:spcAft>
              <a:defRPr sz="2000"/>
            </a:pPr>
            <a:r>
              <a:t>🥉 بوعلي هبة: 19.69</a:t>
            </a:r>
          </a:p>
          <a:p>
            <a:pPr algn="r" a:rtl="1">
              <a:spcAft>
                <a:spcPts val="600"/>
              </a:spcAft>
              <a:defRPr sz="2000"/>
            </a:pPr>
            <a:r>
              <a:t>4️⃣ نايت ظهر حياة: 19.67</a:t>
            </a:r>
          </a:p>
          <a:p>
            <a:pPr algn="r" a:rtl="1">
              <a:spcAft>
                <a:spcPts val="600"/>
              </a:spcAft>
              <a:defRPr sz="2000"/>
            </a:pPr>
            <a:r>
              <a:t>5️⃣ الباز ملاك: 19.49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 a:rtl="1">
              <a:spcAft>
                <a:spcPts val="600"/>
              </a:spcAft>
              <a:defRPr sz="2000"/>
            </a:pPr>
            <a:r>
              <a:t>📉 تلاميذ يحتاجون دعماً:</a:t>
            </a:r>
          </a:p>
          <a:p>
            <a:pPr algn="r" a:rtl="1">
              <a:spcAft>
                <a:spcPts val="600"/>
              </a:spcAft>
              <a:defRPr sz="2000"/>
            </a:pPr>
            <a:r>
              <a:t>• الخبار عبد القادر: 2.06</a:t>
            </a:r>
          </a:p>
          <a:p>
            <a:pPr algn="r" a:rtl="1">
              <a:spcAft>
                <a:spcPts val="600"/>
              </a:spcAft>
              <a:defRPr sz="2000"/>
            </a:pPr>
            <a:r>
              <a:t>• فرحي ابراهيم الخليل: 7.65</a:t>
            </a:r>
          </a:p>
          <a:p>
            <a:pPr algn="r" a:rtl="1">
              <a:spcAft>
                <a:spcPts val="600"/>
              </a:spcAft>
              <a:defRPr sz="2000"/>
            </a:pPr>
            <a:r>
              <a:t>• حداد زكرياء: 8.31</a:t>
            </a:r>
          </a:p>
          <a:p>
            <a:pPr algn="r" a:rtl="1">
              <a:spcAft>
                <a:spcPts val="600"/>
              </a:spcAft>
              <a:defRPr sz="2000"/>
            </a:pPr>
            <a:r>
              <a:t>• المرق أيوب: 9.22</a:t>
            </a:r>
          </a:p>
          <a:p>
            <a:pPr algn="r" a:rtl="1">
              <a:spcAft>
                <a:spcPts val="600"/>
              </a:spcAft>
              <a:defRPr sz="2000"/>
            </a:pPr>
            <a:r>
              <a:t>• المكاوي ريان: 9.33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9FA"/>
            </a:gs>
            <a:gs pos="100000">
              <a:srgbClr val="E9ECE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3200" b="1">
                <a:solidFill>
                  <a:srgbClr val="FFFFFF"/>
                </a:solidFill>
              </a:defRPr>
            </a:pPr>
            <a:r>
              <a:t>🔬📚 مقارنة العلوم والآداب</a:t>
            </a:r>
          </a:p>
        </p:txBody>
      </p:sp>
      <p:sp>
        <p:nvSpPr>
          <p:cNvPr id="5" name="Right Triangle 4"/>
          <p:cNvSpPr/>
          <p:nvPr/>
        </p:nvSpPr>
        <p:spPr>
          <a:xfrm rot="16200000">
            <a:off x="0" y="5486400"/>
            <a:ext cx="1218895" cy="13716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0" y="6263640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327648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18872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 a:rtl="1">
              <a:spcAft>
                <a:spcPts val="800"/>
              </a:spcAft>
              <a:defRPr sz="2200"/>
            </a:pPr>
            <a:r>
              <a:t>🔬 متوسط المواد العلمية: 12.36</a:t>
            </a:r>
          </a:p>
          <a:p>
            <a:pPr algn="r" a:rtl="1">
              <a:spcAft>
                <a:spcPts val="800"/>
              </a:spcAft>
              <a:defRPr sz="2200"/>
            </a:pPr>
            <a:r>
              <a:t>(الرياضيات، علوم الحياة والأرض، الفيزياء والكيمياء)</a:t>
            </a:r>
          </a:p>
          <a:p>
            <a:pPr algn="r" a:rtl="1">
              <a:spcAft>
                <a:spcPts val="800"/>
              </a:spcAft>
              <a:defRPr sz="2200"/>
            </a:pPr>
          </a:p>
          <a:p>
            <a:pPr algn="r" a:rtl="1">
              <a:spcAft>
                <a:spcPts val="800"/>
              </a:spcAft>
              <a:defRPr sz="2200"/>
            </a:pPr>
            <a:r>
              <a:t>📚 متوسط المواد الأدبية: 13.02</a:t>
            </a:r>
          </a:p>
          <a:p>
            <a:pPr algn="r" a:rtl="1">
              <a:spcAft>
                <a:spcPts val="800"/>
              </a:spcAft>
              <a:defRPr sz="2200"/>
            </a:pPr>
            <a:r>
              <a:t>(العربية، الفرنسية، الإنجليزية، الاجتماعيات)</a:t>
            </a:r>
          </a:p>
          <a:p>
            <a:pPr algn="r" a:rtl="1">
              <a:spcAft>
                <a:spcPts val="800"/>
              </a:spcAft>
              <a:defRPr sz="2200"/>
            </a:pPr>
          </a:p>
          <a:p>
            <a:pPr algn="r" a:rtl="1">
              <a:spcAft>
                <a:spcPts val="800"/>
              </a:spcAft>
              <a:defRPr sz="2200"/>
            </a:pPr>
            <a:r>
              <a:t>📊 الفرق: -0.66 نقطة</a:t>
            </a:r>
          </a:p>
          <a:p>
            <a:pPr algn="r" a:rtl="1">
              <a:spcAft>
                <a:spcPts val="800"/>
              </a:spcAft>
              <a:defRPr sz="2200"/>
            </a:pPr>
          </a:p>
          <a:p>
            <a:pPr algn="r" a:rtl="1">
              <a:spcAft>
                <a:spcPts val="800"/>
              </a:spcAft>
              <a:defRPr sz="2200"/>
            </a:pPr>
            <a:r>
              <a:t>🎯 التوجه العام: توجه أدبي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9FA"/>
            </a:gs>
            <a:gs pos="100000">
              <a:srgbClr val="E9ECE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3200" b="1">
                <a:solidFill>
                  <a:srgbClr val="FFFFFF"/>
                </a:solidFill>
              </a:defRPr>
            </a:pPr>
            <a:r>
              <a:t>🎨 مواد التفتح (الأنشطة)</a:t>
            </a:r>
          </a:p>
        </p:txBody>
      </p:sp>
      <p:sp>
        <p:nvSpPr>
          <p:cNvPr id="5" name="Right Triangle 4"/>
          <p:cNvSpPr/>
          <p:nvPr/>
        </p:nvSpPr>
        <p:spPr>
          <a:xfrm rot="16200000">
            <a:off x="0" y="5486400"/>
            <a:ext cx="1218895" cy="13716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0" y="6263640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327648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18872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 a:rtl="1">
              <a:spcAft>
                <a:spcPts val="600"/>
              </a:spcAft>
              <a:defRPr sz="2000"/>
            </a:pPr>
            <a:r>
              <a:t>📊 أداء التلاميذ في مواد التفتح:</a:t>
            </a:r>
          </a:p>
          <a:p>
            <a:pPr algn="r" a:rtl="1">
              <a:spcAft>
                <a:spcPts val="600"/>
              </a:spcAft>
              <a:defRPr sz="2000"/>
            </a:pPr>
          </a:p>
          <a:p>
            <a:pPr algn="r" a:rtl="1">
              <a:spcAft>
                <a:spcPts val="600"/>
              </a:spcAft>
              <a:defRPr sz="2000"/>
            </a:pPr>
            <a:r>
              <a:t>✅ التربية الإسلامية: 13.73 (نجاح: 87%)</a:t>
            </a:r>
          </a:p>
          <a:p>
            <a:pPr algn="r" a:rtl="1">
              <a:spcAft>
                <a:spcPts val="600"/>
              </a:spcAft>
              <a:defRPr sz="2000"/>
            </a:pPr>
            <a:r>
              <a:t>✅ التربية البدنية: 17.00 (نجاح: 99%)</a:t>
            </a:r>
          </a:p>
          <a:p>
            <a:pPr algn="r" a:rtl="1">
              <a:spcAft>
                <a:spcPts val="600"/>
              </a:spcAft>
              <a:defRPr sz="2000"/>
            </a:pPr>
            <a:r>
              <a:t>✅ المعلوميات: 17.34 (نجاح: 99%)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9FA"/>
            </a:gs>
            <a:gs pos="100000">
              <a:srgbClr val="E9ECE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3200" b="1">
                <a:solidFill>
                  <a:srgbClr val="FFFFFF"/>
                </a:solidFill>
              </a:defRPr>
            </a:pPr>
            <a:r>
              <a:t>🌐 فجوة الكفاءة اللغوية</a:t>
            </a:r>
          </a:p>
        </p:txBody>
      </p:sp>
      <p:sp>
        <p:nvSpPr>
          <p:cNvPr id="5" name="Right Triangle 4"/>
          <p:cNvSpPr/>
          <p:nvPr/>
        </p:nvSpPr>
        <p:spPr>
          <a:xfrm rot="16200000">
            <a:off x="0" y="5486400"/>
            <a:ext cx="1218895" cy="13716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0" y="6263640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327648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18872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 a:rtl="1">
              <a:spcAft>
                <a:spcPts val="800"/>
              </a:spcAft>
              <a:defRPr sz="2200"/>
            </a:pPr>
            <a:r>
              <a:t>🇲🇦 اللغة العربية (اللغة الأم): 15.09</a:t>
            </a:r>
          </a:p>
          <a:p>
            <a:pPr algn="r" a:rtl="1">
              <a:spcAft>
                <a:spcPts val="800"/>
              </a:spcAft>
              <a:defRPr sz="2200"/>
            </a:pPr>
          </a:p>
          <a:p>
            <a:pPr algn="r" a:rtl="1">
              <a:spcAft>
                <a:spcPts val="800"/>
              </a:spcAft>
              <a:defRPr sz="2200"/>
            </a:pPr>
            <a:r>
              <a:t>🇫🇷 اللغة الفرنسية: 12.28</a:t>
            </a:r>
          </a:p>
          <a:p>
            <a:pPr algn="r" a:rtl="1">
              <a:spcAft>
                <a:spcPts val="800"/>
              </a:spcAft>
              <a:defRPr sz="2200"/>
            </a:pPr>
          </a:p>
          <a:p>
            <a:pPr algn="r" a:rtl="1">
              <a:spcAft>
                <a:spcPts val="800"/>
              </a:spcAft>
              <a:defRPr sz="2200"/>
            </a:pPr>
            <a:r>
              <a:t>🇬🇧 اللغة الإنجليزية: 11.66</a:t>
            </a:r>
          </a:p>
          <a:p>
            <a:pPr algn="r" a:rtl="1">
              <a:spcAft>
                <a:spcPts val="800"/>
              </a:spcAft>
              <a:defRPr sz="2200"/>
            </a:pPr>
          </a:p>
          <a:p>
            <a:pPr algn="r" a:rtl="1">
              <a:spcAft>
                <a:spcPts val="800"/>
              </a:spcAft>
              <a:defRPr sz="2200"/>
            </a:pPr>
            <a:r>
              <a:t>📊 فجوة الكفاءة (العربية - الأجنبية): 3.12</a:t>
            </a:r>
          </a:p>
          <a:p>
            <a:pPr algn="r" a:rtl="1">
              <a:spcAft>
                <a:spcPts val="800"/>
              </a:spcAft>
              <a:defRPr sz="2200"/>
            </a:pPr>
            <a:r>
              <a:t>                </a:t>
            </a:r>
          </a:p>
          <a:p>
            <a:pPr algn="r" a:rtl="1">
              <a:spcAft>
                <a:spcPts val="800"/>
              </a:spcAft>
              <a:defRPr sz="2200"/>
            </a:pPr>
          </a:p>
          <a:p>
            <a:pPr algn="r" a:rtl="1">
              <a:spcAft>
                <a:spcPts val="800"/>
              </a:spcAft>
              <a:defRPr sz="2200"/>
            </a:pPr>
            <a:r>
              <a:t>⚠️ فجوة كبيرة: التلاميذ يواجهون صعوبة في اللغات الأجنبية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9FA"/>
            </a:gs>
            <a:gs pos="100000">
              <a:srgbClr val="E9ECE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3200" b="1">
                <a:solidFill>
                  <a:srgbClr val="FFFFFF"/>
                </a:solidFill>
              </a:defRPr>
            </a:pPr>
            <a:r>
              <a:t>📊 نسبة النجاح في اللغات</a:t>
            </a:r>
          </a:p>
        </p:txBody>
      </p:sp>
      <p:sp>
        <p:nvSpPr>
          <p:cNvPr id="5" name="Right Triangle 4"/>
          <p:cNvSpPr/>
          <p:nvPr/>
        </p:nvSpPr>
        <p:spPr>
          <a:xfrm rot="16200000">
            <a:off x="0" y="5486400"/>
            <a:ext cx="1218895" cy="13716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0" y="6263640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327648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304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118872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 a:rtl="1">
              <a:spcAft>
                <a:spcPts val="1000"/>
              </a:spcAft>
              <a:defRPr sz="2400"/>
            </a:pPr>
            <a:r>
              <a:t>📈 نسب النجاح في اللغات:</a:t>
            </a:r>
          </a:p>
          <a:p>
            <a:pPr algn="r" a:rtl="1">
              <a:spcAft>
                <a:spcPts val="1000"/>
              </a:spcAft>
              <a:defRPr sz="2400"/>
            </a:pPr>
          </a:p>
          <a:p>
            <a:pPr algn="r" a:rtl="1">
              <a:spcAft>
                <a:spcPts val="1000"/>
              </a:spcAft>
              <a:defRPr sz="2400"/>
            </a:pPr>
            <a:r>
              <a:t>🇲🇦 العربية: 94.4%</a:t>
            </a:r>
          </a:p>
          <a:p>
            <a:pPr algn="r" a:rtl="1">
              <a:spcAft>
                <a:spcPts val="1000"/>
              </a:spcAft>
              <a:defRPr sz="2400"/>
            </a:pPr>
            <a:r>
              <a:t>🇫🇷 الفرنسية: 69.9%</a:t>
            </a:r>
          </a:p>
          <a:p>
            <a:pPr algn="r" a:rtl="1">
              <a:spcAft>
                <a:spcPts val="1000"/>
              </a:spcAft>
              <a:defRPr sz="2400"/>
            </a:pPr>
            <a:r>
              <a:t>🇬🇧 الإنجليزية: 59.7%</a:t>
            </a:r>
          </a:p>
          <a:p>
            <a:pPr algn="r" a:rtl="1">
              <a:spcAft>
                <a:spcPts val="1000"/>
              </a:spcAft>
              <a:defRPr sz="2400"/>
            </a:pPr>
          </a:p>
          <a:p>
            <a:pPr algn="r" a:rtl="1">
              <a:spcAft>
                <a:spcPts val="1000"/>
              </a:spcAft>
              <a:defRPr sz="2400"/>
            </a:pPr>
            <a:r>
              <a:t>✅ أداء جيد في جميع اللغات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9FA"/>
            </a:gs>
            <a:gs pos="100000">
              <a:srgbClr val="E9ECE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3200" b="1">
                <a:solidFill>
                  <a:srgbClr val="FFFFFF"/>
                </a:solidFill>
              </a:defRPr>
            </a:pPr>
            <a:r>
              <a:t>📊 توزيع الفجوة اللغوية</a:t>
            </a:r>
          </a:p>
        </p:txBody>
      </p:sp>
      <p:sp>
        <p:nvSpPr>
          <p:cNvPr id="5" name="Right Triangle 4"/>
          <p:cNvSpPr/>
          <p:nvPr/>
        </p:nvSpPr>
        <p:spPr>
          <a:xfrm rot="16200000">
            <a:off x="0" y="5486400"/>
            <a:ext cx="1218895" cy="13716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0" y="6263640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327648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314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118872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 a:rtl="1">
              <a:spcAft>
                <a:spcPts val="800"/>
              </a:spcAft>
              <a:defRPr sz="2200"/>
            </a:pPr>
            <a:r>
              <a:t>📊 تحليل الفجوة اللغوية:</a:t>
            </a:r>
          </a:p>
          <a:p>
            <a:pPr algn="r" a:rtl="1">
              <a:spcAft>
                <a:spcPts val="800"/>
              </a:spcAft>
              <a:defRPr sz="2200"/>
            </a:pPr>
          </a:p>
          <a:p>
            <a:pPr algn="r" a:rtl="1">
              <a:spcAft>
                <a:spcPts val="800"/>
              </a:spcAft>
              <a:defRPr sz="2200"/>
            </a:pPr>
            <a:r>
              <a:t>📈 أفضل في العربية: 181 تلميذ (83.8%)</a:t>
            </a:r>
          </a:p>
          <a:p>
            <a:pPr algn="r" a:rtl="1">
              <a:spcAft>
                <a:spcPts val="800"/>
              </a:spcAft>
              <a:defRPr sz="2200"/>
            </a:pPr>
            <a:r>
              <a:t>⚖️ متوازن: 33 تلميذ (15.3%)</a:t>
            </a:r>
          </a:p>
          <a:p>
            <a:pPr algn="r" a:rtl="1">
              <a:spcAft>
                <a:spcPts val="800"/>
              </a:spcAft>
              <a:defRPr sz="2200"/>
            </a:pPr>
            <a:r>
              <a:t>🌍 أفضل في الأجنبية: 2 تلميذ (0.9%)</a:t>
            </a:r>
          </a:p>
          <a:p>
            <a:pPr algn="r" a:rtl="1">
              <a:spcAft>
                <a:spcPts val="800"/>
              </a:spcAft>
              <a:defRPr sz="2200"/>
            </a:pPr>
          </a:p>
          <a:p>
            <a:pPr algn="r" a:rtl="1">
              <a:spcAft>
                <a:spcPts val="800"/>
              </a:spcAft>
              <a:defRPr sz="2200"/>
            </a:pPr>
            <a:r>
              <a:t>⚠️ غالبية التلاميذ يحتاجون دعماً في اللغات الأجنبية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9FA"/>
            </a:gs>
            <a:gs pos="100000">
              <a:srgbClr val="E9ECE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3200" b="1">
                <a:solidFill>
                  <a:srgbClr val="FFFFFF"/>
                </a:solidFill>
              </a:defRPr>
            </a:pPr>
            <a:r>
              <a:t>🔗 تحليل الارتباط بين المواد</a:t>
            </a:r>
          </a:p>
        </p:txBody>
      </p:sp>
      <p:sp>
        <p:nvSpPr>
          <p:cNvPr id="5" name="Right Triangle 4"/>
          <p:cNvSpPr/>
          <p:nvPr/>
        </p:nvSpPr>
        <p:spPr>
          <a:xfrm rot="16200000">
            <a:off x="0" y="5486400"/>
            <a:ext cx="1218895" cy="13716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0" y="6263640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327648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18872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 a:rtl="1">
              <a:spcAft>
                <a:spcPts val="600"/>
              </a:spcAft>
              <a:defRPr sz="2000"/>
            </a:pPr>
            <a:r>
              <a:t>📊 متوسط الارتباط بين المواد: 0.65</a:t>
            </a:r>
          </a:p>
          <a:p>
            <a:pPr algn="r" a:rtl="1">
              <a:spcAft>
                <a:spcPts val="600"/>
              </a:spcAft>
              <a:defRPr sz="2000"/>
            </a:pPr>
          </a:p>
          <a:p>
            <a:pPr algn="r" a:rtl="1">
              <a:spcAft>
                <a:spcPts val="600"/>
              </a:spcAft>
              <a:defRPr sz="2000"/>
            </a:pPr>
            <a:r>
              <a:t>🔗 أقوى ارتباط:</a:t>
            </a:r>
          </a:p>
          <a:p>
            <a:pPr algn="r" a:rtl="1">
              <a:spcAft>
                <a:spcPts val="600"/>
              </a:spcAft>
              <a:defRPr sz="2000"/>
            </a:pPr>
            <a:r>
              <a:t>الاجتماعيات ↔ التربية الإسلامية: 0.88</a:t>
            </a:r>
          </a:p>
          <a:p>
            <a:pPr algn="r" a:rtl="1">
              <a:spcAft>
                <a:spcPts val="600"/>
              </a:spcAft>
              <a:defRPr sz="2000"/>
            </a:pPr>
          </a:p>
          <a:p>
            <a:pPr algn="r" a:rtl="1">
              <a:spcAft>
                <a:spcPts val="600"/>
              </a:spcAft>
              <a:defRPr sz="2000"/>
            </a:pPr>
            <a:r>
              <a:t>⛓️ أضعف ارتباط:</a:t>
            </a:r>
          </a:p>
          <a:p>
            <a:pPr algn="r" a:rtl="1">
              <a:spcAft>
                <a:spcPts val="600"/>
              </a:spcAft>
              <a:defRPr sz="2000"/>
            </a:pPr>
            <a:r>
              <a:t>اللغة الإنجليزية ↔ التربية البدنية: 0.16</a:t>
            </a:r>
          </a:p>
          <a:p>
            <a:pPr algn="r" a:rtl="1">
              <a:spcAft>
                <a:spcPts val="600"/>
              </a:spcAft>
              <a:defRPr sz="2000"/>
            </a:pPr>
            <a:r>
              <a:t>                    </a:t>
            </a:r>
          </a:p>
          <a:p>
            <a:pPr algn="r" a:rtl="1">
              <a:spcAft>
                <a:spcPts val="600"/>
              </a:spcAft>
              <a:defRPr sz="2000"/>
            </a:pPr>
          </a:p>
          <a:p>
            <a:pPr algn="r" a:rtl="1">
              <a:spcAft>
                <a:spcPts val="600"/>
              </a:spcAft>
              <a:defRPr sz="2000"/>
            </a:pPr>
            <a:r>
              <a:t>🎯 ترابط عام قوي: المتفوقون يتفوقون في معظم المواد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4864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9FA"/>
            </a:gs>
            <a:gs pos="100000">
              <a:srgbClr val="E9ECE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3200" b="1">
                <a:solidFill>
                  <a:srgbClr val="FFFFFF"/>
                </a:solidFill>
              </a:defRPr>
            </a:pPr>
            <a:r>
              <a:t>🚨 التلاميذ المعرضين للخطر</a:t>
            </a:r>
          </a:p>
        </p:txBody>
      </p:sp>
      <p:sp>
        <p:nvSpPr>
          <p:cNvPr id="5" name="Right Triangle 4"/>
          <p:cNvSpPr/>
          <p:nvPr/>
        </p:nvSpPr>
        <p:spPr>
          <a:xfrm rot="16200000">
            <a:off x="0" y="5486400"/>
            <a:ext cx="1218895" cy="13716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0" y="6263640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327648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188720"/>
            <a:ext cx="5760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 a:rtl="1">
              <a:spcAft>
                <a:spcPts val="800"/>
              </a:spcAft>
              <a:defRPr sz="2200"/>
            </a:pPr>
            <a:r>
              <a:t>🔴 معرضون للخطر (معدل &lt; 9): 3 تلاميذ</a:t>
            </a:r>
          </a:p>
          <a:p>
            <a:pPr algn="r" a:rtl="1">
              <a:spcAft>
                <a:spcPts val="800"/>
              </a:spcAft>
              <a:defRPr sz="2200"/>
            </a:pPr>
            <a:r>
              <a:t>يحتاجون تدخلاً عاجلاً</a:t>
            </a:r>
          </a:p>
          <a:p>
            <a:pPr algn="r" a:rtl="1">
              <a:spcAft>
                <a:spcPts val="800"/>
              </a:spcAft>
              <a:defRPr sz="2200"/>
            </a:pPr>
          </a:p>
          <a:p>
            <a:pPr algn="r" a:rtl="1">
              <a:spcAft>
                <a:spcPts val="800"/>
              </a:spcAft>
              <a:defRPr sz="2200"/>
            </a:pPr>
            <a:r>
              <a:t>🟡 على الحافة (معدل 9-10): 8 تلاميذ</a:t>
            </a:r>
          </a:p>
          <a:p>
            <a:pPr algn="r" a:rtl="1">
              <a:spcAft>
                <a:spcPts val="800"/>
              </a:spcAft>
              <a:defRPr sz="2200"/>
            </a:pPr>
            <a:r>
              <a:t>قريبون من الرسوب</a:t>
            </a:r>
          </a:p>
          <a:p>
            <a:pPr algn="r" a:rtl="1">
              <a:spcAft>
                <a:spcPts val="800"/>
              </a:spcAft>
              <a:defRPr sz="2200"/>
            </a:pPr>
          </a:p>
          <a:p>
            <a:pPr algn="r" a:rtl="1">
              <a:spcAft>
                <a:spcPts val="800"/>
              </a:spcAft>
              <a:defRPr sz="2200"/>
            </a:pPr>
            <a:r>
              <a:t>⭐ متميزون: 23 تلاميذ</a:t>
            </a:r>
          </a:p>
          <a:p>
            <a:pPr algn="r" a:rtl="1">
              <a:spcAft>
                <a:spcPts val="800"/>
              </a:spcAft>
              <a:defRPr sz="2200"/>
            </a:pPr>
            <a:r>
              <a:t>يمكن إشراكهم في مساعدة زملائهم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 a:rtl="1">
              <a:spcAft>
                <a:spcPts val="600"/>
              </a:spcAft>
              <a:defRPr sz="2000"/>
            </a:pPr>
            <a:r>
              <a:t>📋 أسماء التلاميذ الأكثر خطراً:</a:t>
            </a:r>
          </a:p>
          <a:p>
            <a:pPr algn="r" a:rtl="1">
              <a:spcAft>
                <a:spcPts val="600"/>
              </a:spcAft>
              <a:defRPr sz="2000"/>
            </a:pPr>
            <a:r>
              <a:t>• الخبار عبد القادر: 2.06</a:t>
            </a:r>
          </a:p>
          <a:p>
            <a:pPr algn="r" a:rtl="1">
              <a:spcAft>
                <a:spcPts val="600"/>
              </a:spcAft>
              <a:defRPr sz="2000"/>
            </a:pPr>
            <a:r>
              <a:t>• فرحي ابراهيم الخليل: 7.65</a:t>
            </a:r>
          </a:p>
          <a:p>
            <a:pPr algn="r" a:rtl="1">
              <a:spcAft>
                <a:spcPts val="600"/>
              </a:spcAft>
              <a:defRPr sz="2000"/>
            </a:pPr>
            <a:r>
              <a:t>• حداد زكرياء: 8.31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9FA"/>
            </a:gs>
            <a:gs pos="100000">
              <a:srgbClr val="E9ECE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3200" b="1">
                <a:solidFill>
                  <a:srgbClr val="FFFFFF"/>
                </a:solidFill>
              </a:defRPr>
            </a:pPr>
            <a:r>
              <a:t>📊 تحليل نسب الرسوب في المواد</a:t>
            </a:r>
          </a:p>
        </p:txBody>
      </p:sp>
      <p:sp>
        <p:nvSpPr>
          <p:cNvPr id="5" name="Right Triangle 4"/>
          <p:cNvSpPr/>
          <p:nvPr/>
        </p:nvSpPr>
        <p:spPr>
          <a:xfrm rot="16200000">
            <a:off x="0" y="5486400"/>
            <a:ext cx="1218895" cy="13716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0" y="6263640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327648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508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9FA"/>
            </a:gs>
            <a:gs pos="100000">
              <a:srgbClr val="E9ECE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3200" b="1">
                <a:solidFill>
                  <a:srgbClr val="FFFFFF"/>
                </a:solidFill>
              </a:defRPr>
            </a:pPr>
            <a:r>
              <a:t>💡 التوصيات والخلاصة</a:t>
            </a:r>
          </a:p>
        </p:txBody>
      </p:sp>
      <p:sp>
        <p:nvSpPr>
          <p:cNvPr id="5" name="Right Triangle 4"/>
          <p:cNvSpPr/>
          <p:nvPr/>
        </p:nvSpPr>
        <p:spPr>
          <a:xfrm rot="16200000">
            <a:off x="0" y="5486400"/>
            <a:ext cx="1218895" cy="13716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0" y="6263640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327648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 a:rtl="1">
              <a:spcAft>
                <a:spcPts val="800"/>
              </a:spcAft>
              <a:defRPr sz="2200"/>
            </a:pPr>
            <a:r>
              <a:t>📌 التوصيات الرئيسية:</a:t>
            </a:r>
          </a:p>
          <a:p>
            <a:pPr algn="r" a:rtl="1">
              <a:spcAft>
                <a:spcPts val="800"/>
              </a:spcAft>
              <a:defRPr sz="2200"/>
            </a:pPr>
          </a:p>
          <a:p>
            <a:pPr algn="r" a:rtl="1">
              <a:spcAft>
                <a:spcPts val="800"/>
              </a:spcAft>
              <a:defRPr sz="2200"/>
            </a:pPr>
            <a:r>
              <a:t>🔴 تدخل عاجل: 3 تلاميذ يحتاجون دعماً مكثفاً</a:t>
            </a:r>
          </a:p>
          <a:p>
            <a:pPr algn="r" a:rtl="1">
              <a:spcAft>
                <a:spcPts val="800"/>
              </a:spcAft>
              <a:defRPr sz="2200"/>
            </a:pPr>
          </a:p>
          <a:p>
            <a:pPr algn="r" a:rtl="1">
              <a:spcAft>
                <a:spcPts val="800"/>
              </a:spcAft>
              <a:defRPr sz="2200"/>
            </a:pPr>
            <a:r>
              <a:t>🟡 متابعة دقيقة: 8 تلاميذ على حافة الرسوب</a:t>
            </a:r>
          </a:p>
          <a:p>
            <a:pPr algn="r" a:rtl="1">
              <a:spcAft>
                <a:spcPts val="800"/>
              </a:spcAft>
              <a:defRPr sz="2200"/>
            </a:pPr>
          </a:p>
          <a:p>
            <a:pPr algn="r" a:rtl="1">
              <a:spcAft>
                <a:spcPts val="800"/>
              </a:spcAft>
              <a:defRPr sz="2200"/>
            </a:pPr>
            <a:r>
              <a:t>⭐ برنامج تميز: إشراك 23 تلاميذ متميزين في المساعدة</a:t>
            </a:r>
          </a:p>
          <a:p>
            <a:pPr algn="r" a:rtl="1">
              <a:spcAft>
                <a:spcPts val="800"/>
              </a:spcAft>
              <a:defRPr sz="2200"/>
            </a:pPr>
          </a:p>
          <a:p>
            <a:pPr algn="r" a:rtl="1">
              <a:spcAft>
                <a:spcPts val="800"/>
              </a:spcAft>
              <a:defRPr sz="2200"/>
            </a:pPr>
          </a:p>
          <a:p>
            <a:pPr algn="r" a:rtl="1">
              <a:spcAft>
                <a:spcPts val="800"/>
              </a:spcAft>
              <a:defRPr sz="2200"/>
            </a:pPr>
            <a:r>
              <a:t>📊 ملخص الأداء:</a:t>
            </a:r>
          </a:p>
          <a:p>
            <a:pPr algn="r" a:rtl="1">
              <a:spcAft>
                <a:spcPts val="800"/>
              </a:spcAft>
              <a:defRPr sz="2200"/>
            </a:pPr>
            <a:r>
              <a:t>• نسبة النجاح: 94.9%</a:t>
            </a:r>
          </a:p>
          <a:p>
            <a:pPr algn="r" a:rtl="1">
              <a:spcAft>
                <a:spcPts val="800"/>
              </a:spcAft>
              <a:defRPr sz="2200"/>
            </a:pPr>
            <a:r>
              <a:t>• نسبة التميز: 69.9%</a:t>
            </a:r>
          </a:p>
          <a:p>
            <a:pPr algn="r" a:rtl="1">
              <a:spcAft>
                <a:spcPts val="800"/>
              </a:spcAft>
              <a:defRPr sz="2200"/>
            </a:pPr>
            <a:r>
              <a:t>• المعدل العام: 13.71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6450"/>
            </a:gs>
            <a:gs pos="100000">
              <a:srgbClr val="19375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FFFFF">
              <a:lumMod val="8000"/>
              <a:lumOff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572000"/>
            <a:ext cx="2743200" cy="2743200"/>
          </a:xfrm>
          <a:prstGeom prst="ellipse">
            <a:avLst/>
          </a:prstGeom>
          <a:solidFill>
            <a:srgbClr val="FFFFFF">
              <a:lumMod val="7000"/>
              <a:lumOff val="9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5029200"/>
            <a:ext cx="1828800" cy="1828800"/>
          </a:xfrm>
          <a:prstGeom prst="ellipse">
            <a:avLst/>
          </a:prstGeom>
          <a:solidFill>
            <a:srgbClr val="FFC000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2133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6000" b="1">
                <a:solidFill>
                  <a:srgbClr val="FFFFFF"/>
                </a:solidFill>
              </a:defRPr>
            </a:pPr>
            <a:r>
              <a:t>شكراً لكم!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2400">
                <a:solidFill>
                  <a:srgbClr val="C8E6DC"/>
                </a:solidFill>
              </a:defRPr>
            </a:pPr>
            <a:r>
              <a:t>تم الإنشاء من لوحة إحصائيات التلاميذ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4846320"/>
            <a:ext cx="4876495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400">
                <a:solidFill>
                  <a:srgbClr val="B4C8BE"/>
                </a:solidFill>
              </a:defRPr>
            </a:pPr>
            <a:r>
              <a:t>📅 2026-02-15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